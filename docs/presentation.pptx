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CA311"/>
                </a:solidFill>
                <a:latin typeface="Consolas"/>
              </a:rPr>
              <a:t>RP</a:t>
            </a:r>
            <a:r>
              <a:rPr sz="1100" b="0">
                <a:solidFill>
                  <a:srgbClr val="9DB0C8"/>
                </a:solidFill>
                <a:latin typeface="Consolas"/>
              </a:rPr>
              <a:t>  ·  S&amp;P GLOBAL &amp; CRISIL CAMPUS HACKATHON 2026</a:t>
            </a:r>
          </a:p>
        </p:txBody>
      </p:sp>
      <p:sp>
        <p:nvSpPr>
          <p:cNvPr id="24" name="Freeform 23"/>
          <p:cNvSpPr/>
          <p:nvPr/>
        </p:nvSpPr>
        <p:spPr>
          <a:xfrm>
            <a:off x="0" y="1508760"/>
            <a:ext cx="12191695" cy="731520"/>
          </a:xfrm>
          <a:custGeom>
            <a:avLst/>
            <a:gdLst/>
            <a:ahLst/>
            <a:cxnLst/>
            <a:rect l="l" t="t" r="r" b="b"/>
            <a:pathLst>
              <a:path w="12191695" h="731520">
                <a:moveTo>
                  <a:pt x="0" y="365759"/>
                </a:moveTo>
                <a:lnTo>
                  <a:pt x="4825879" y="365759"/>
                </a:lnTo>
                <a:lnTo>
                  <a:pt x="5219569" y="313508"/>
                </a:lnTo>
                <a:lnTo>
                  <a:pt x="5537061" y="365759"/>
                </a:lnTo>
                <a:lnTo>
                  <a:pt x="5905352" y="365759"/>
                </a:lnTo>
                <a:lnTo>
                  <a:pt x="6108547" y="0"/>
                </a:lnTo>
                <a:lnTo>
                  <a:pt x="6311742" y="731520"/>
                </a:lnTo>
                <a:lnTo>
                  <a:pt x="6489537" y="169817"/>
                </a:lnTo>
                <a:lnTo>
                  <a:pt x="6641933" y="365759"/>
                </a:lnTo>
                <a:lnTo>
                  <a:pt x="12191695" y="365759"/>
                </a:lnTo>
              </a:path>
            </a:pathLst>
          </a:custGeom>
          <a:noFill/>
          <a:ln w="38100">
            <a:solidFill>
              <a:srgbClr val="FCA3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5146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0" b="0">
                <a:solidFill>
                  <a:srgbClr val="F0EBD8"/>
                </a:solidFill>
                <a:latin typeface="Segoe UI Black"/>
              </a:rPr>
              <a:t>Risk</a:t>
            </a:r>
            <a:r>
              <a:rPr sz="8800" b="0">
                <a:solidFill>
                  <a:srgbClr val="FCA311"/>
                </a:solidFill>
                <a:latin typeface="Segoe UI Black"/>
              </a:rPr>
              <a:t>Pulse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88620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9DB0C8"/>
                </a:solidFill>
                <a:latin typeface="Segoe UI"/>
              </a:rPr>
              <a:t>An AI/NLP risk engine that turns financial news and social chatter into structured, machine-readable risk signals — and acts on them.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257800"/>
            <a:ext cx="54864" cy="777240"/>
          </a:xfrm>
          <a:prstGeom prst="rect">
            <a:avLst/>
          </a:prstGeom>
          <a:solidFill>
            <a:srgbClr val="FCA3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230368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F0EBD8"/>
                </a:solidFill>
                <a:latin typeface="Segoe UI Semibold"/>
              </a:rPr>
              <a:t>Madapati Naga Durga Abhinav Sai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65099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DB0C8"/>
                </a:solidFill>
                <a:latin typeface="Segoe UI"/>
              </a:rPr>
              <a:t>VIT-AP University  ·  Individual submission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CA311"/>
                </a:solidFill>
                <a:latin typeface="Consolas"/>
              </a:rPr>
              <a:t>RP</a:t>
            </a:r>
            <a:r>
              <a:rPr sz="1100" b="0">
                <a:solidFill>
                  <a:srgbClr val="9DB0C8"/>
                </a:solidFill>
                <a:latin typeface="Consolas"/>
              </a:rPr>
              <a:t>  ·  02 / PROBLEM &amp; APPROACH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4015" y="3840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9DB0C8"/>
                </a:solidFill>
                <a:latin typeface="Consolas"/>
              </a:rPr>
              <a:t>RISKPULSE — AI/NLP RISK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>
                <a:solidFill>
                  <a:srgbClr val="F0EBD8"/>
                </a:solidFill>
                <a:latin typeface="Segoe UI Black"/>
              </a:rPr>
              <a:t>Risk lives in words. Systems can't read them.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1783080"/>
            <a:ext cx="5120640" cy="128016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20116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E8645A"/>
                </a:solidFill>
                <a:latin typeface="Consolas"/>
              </a:rPr>
              <a:t>VOLUME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31343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F0EBD8"/>
                </a:solidFill>
                <a:latin typeface="Segoe UI"/>
              </a:rPr>
              <a:t>Thousands of headlines and posts an hour — far beyond what an analyst desk can read.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246120"/>
            <a:ext cx="5120640" cy="128016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34747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E8645A"/>
                </a:solidFill>
                <a:latin typeface="Consolas"/>
              </a:rPr>
              <a:t>STRUCTURE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377647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F0EBD8"/>
                </a:solidFill>
                <a:latin typeface="Segoe UI"/>
              </a:rPr>
              <a:t>Raw text can't feed a model, a limit system or a portfolio revaluation.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709160"/>
            <a:ext cx="5120640" cy="128016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9377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E8645A"/>
                </a:solidFill>
                <a:latin typeface="Consolas"/>
              </a:rPr>
              <a:t>LATENCY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23951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F0EBD8"/>
                </a:solidFill>
                <a:latin typeface="Segoe UI"/>
              </a:rPr>
              <a:t>Risk teams learn about the shock after the P&amp;L does — at the overnight run.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17830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CA311"/>
                </a:solidFill>
                <a:latin typeface="Consolas"/>
              </a:rPr>
              <a:t>MY APPROACH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194560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>
                <a:solidFill>
                  <a:srgbClr val="FCA311"/>
                </a:solidFill>
                <a:latin typeface="Segoe UI Black"/>
              </a:rPr>
              <a:t>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221284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0EBD8"/>
                </a:solidFill>
                <a:latin typeface="Segoe UI Semibold"/>
              </a:rPr>
              <a:t>Ingest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257860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9DB0C8"/>
                </a:solidFill>
                <a:latin typeface="Segoe UI"/>
              </a:rPr>
              <a:t>News CSV, social JSON and any live RSS feed → one Document format.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132320" y="3108960"/>
            <a:ext cx="4389120" cy="0"/>
          </a:xfrm>
          <a:prstGeom prst="line">
            <a:avLst/>
          </a:prstGeom>
          <a:ln w="12700">
            <a:solidFill>
              <a:srgbClr val="2C4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309360" y="3218688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>
                <a:solidFill>
                  <a:srgbClr val="FCA311"/>
                </a:solidFill>
                <a:latin typeface="Segoe UI Black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3236976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0EBD8"/>
                </a:solidFill>
                <a:latin typeface="Segoe UI Semibold"/>
              </a:rPr>
              <a:t>Understand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3602736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9DB0C8"/>
                </a:solidFill>
                <a:latin typeface="Segoe UI"/>
              </a:rPr>
              <a:t>Link companies, score sentiment, classify the event, predict impact.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132320" y="4133087"/>
            <a:ext cx="4389120" cy="0"/>
          </a:xfrm>
          <a:prstGeom prst="line">
            <a:avLst/>
          </a:prstGeom>
          <a:ln w="12700">
            <a:solidFill>
              <a:srgbClr val="2C4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309360" y="4242816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>
                <a:solidFill>
                  <a:srgbClr val="FCA311"/>
                </a:solidFill>
                <a:latin typeface="Segoe UI Black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426110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0EBD8"/>
                </a:solidFill>
                <a:latin typeface="Segoe UI Semibold"/>
              </a:rPr>
              <a:t>Publish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4626864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9DB0C8"/>
                </a:solidFill>
                <a:latin typeface="Segoe UI"/>
              </a:rPr>
              <a:t>Signals to a JSONL file, a REST API and a live pub/sub stream.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132320" y="5157216"/>
            <a:ext cx="4389120" cy="0"/>
          </a:xfrm>
          <a:prstGeom prst="line">
            <a:avLst/>
          </a:prstGeom>
          <a:ln w="12700">
            <a:solidFill>
              <a:srgbClr val="2C4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309360" y="526694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>
                <a:solidFill>
                  <a:srgbClr val="FCA311"/>
                </a:solidFill>
                <a:latin typeface="Segoe UI Black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0" y="5285231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0EBD8"/>
                </a:solidFill>
                <a:latin typeface="Segoe UI Semibold"/>
              </a:rPr>
              <a:t>Act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32320" y="565099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9DB0C8"/>
                </a:solidFill>
                <a:latin typeface="Segoe UI"/>
              </a:rPr>
              <a:t>Module A tilts an index · Module B stress-tests a banking book.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CA311"/>
                </a:solidFill>
                <a:latin typeface="Consolas"/>
              </a:rPr>
              <a:t>RP</a:t>
            </a:r>
            <a:r>
              <a:rPr sz="1100" b="0">
                <a:solidFill>
                  <a:srgbClr val="9DB0C8"/>
                </a:solidFill>
                <a:latin typeface="Consolas"/>
              </a:rPr>
              <a:t>  ·  03 / SYSTEM 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4015" y="3840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9DB0C8"/>
                </a:solidFill>
                <a:latin typeface="Consolas"/>
              </a:rPr>
              <a:t>RISKPULSE — AI/NLP RISK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>
                <a:solidFill>
                  <a:srgbClr val="F0EBD8"/>
                </a:solidFill>
                <a:latin typeface="Segoe UI Black"/>
              </a:rPr>
              <a:t>One engine. Two consumers. Three ways out.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1828800"/>
            <a:ext cx="2286000" cy="86868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197510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DB0C8"/>
                </a:solidFill>
                <a:latin typeface="Consolas"/>
              </a:rPr>
              <a:t>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2212848"/>
            <a:ext cx="201168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F0EBD8"/>
                </a:solidFill>
                <a:latin typeface="Segoe UI Semibold"/>
              </a:rPr>
              <a:t>Financial news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926080" y="2267712"/>
            <a:ext cx="640080" cy="1234440"/>
          </a:xfrm>
          <a:prstGeom prst="line">
            <a:avLst/>
          </a:prstGeom>
          <a:ln w="22225">
            <a:solidFill>
              <a:srgbClr val="2C4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40080" y="3063240"/>
            <a:ext cx="2286000" cy="86868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320954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DB0C8"/>
                </a:solidFill>
                <a:latin typeface="Consolas"/>
              </a:rPr>
              <a:t>SOURCE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59" y="3447288"/>
            <a:ext cx="201168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F0EBD8"/>
                </a:solidFill>
                <a:latin typeface="Segoe UI Semibold"/>
              </a:rPr>
              <a:t>Social media (X)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26080" y="3502152"/>
            <a:ext cx="640080" cy="0"/>
          </a:xfrm>
          <a:prstGeom prst="line">
            <a:avLst/>
          </a:prstGeom>
          <a:ln w="22225">
            <a:solidFill>
              <a:srgbClr val="2C4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40080" y="4297680"/>
            <a:ext cx="2286000" cy="86868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" y="444398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DB0C8"/>
                </a:solidFill>
                <a:latin typeface="Consolas"/>
              </a:rPr>
              <a:t>SOURCE · OPTIONAL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" y="4681728"/>
            <a:ext cx="201168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F0EBD8"/>
                </a:solidFill>
                <a:latin typeface="Segoe UI Semibold"/>
              </a:rPr>
              <a:t>Live RSS feed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2926080" y="3502152"/>
            <a:ext cx="640080" cy="1234440"/>
          </a:xfrm>
          <a:prstGeom prst="line">
            <a:avLst/>
          </a:prstGeom>
          <a:ln w="22225">
            <a:solidFill>
              <a:srgbClr val="2C4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3566160" y="1828800"/>
            <a:ext cx="2743200" cy="333756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FCA3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49039" y="1975104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DB0C8"/>
                </a:solidFill>
                <a:latin typeface="Consolas"/>
              </a:rPr>
              <a:t>RISKPULSE ENGINE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9039" y="2212848"/>
            <a:ext cx="2468880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F0EBD8"/>
                </a:solidFill>
                <a:latin typeface="Segoe UI Semibold"/>
              </a:rPr>
              <a:t>NLP risk engine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749039" y="2697480"/>
            <a:ext cx="2377440" cy="493776"/>
          </a:xfrm>
          <a:prstGeom prst="roundRect">
            <a:avLst>
              <a:gd name="adj" fmla="val 12000"/>
            </a:avLst>
          </a:prstGeom>
          <a:solidFill>
            <a:srgbClr val="0D1321"/>
          </a:solidFill>
          <a:ln w="1270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58768" y="2743200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F0EBD8"/>
                </a:solidFill>
                <a:latin typeface="Segoe UI Semibold"/>
              </a:rPr>
              <a:t>Entity linker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58768" y="295351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DB0C8"/>
                </a:solidFill>
                <a:latin typeface="Consolas"/>
              </a:rPr>
              <a:t>cashtags + alias table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749039" y="3282696"/>
            <a:ext cx="2377440" cy="493776"/>
          </a:xfrm>
          <a:prstGeom prst="roundRect">
            <a:avLst>
              <a:gd name="adj" fmla="val 12000"/>
            </a:avLst>
          </a:prstGeom>
          <a:solidFill>
            <a:srgbClr val="0D1321"/>
          </a:solidFill>
          <a:ln w="1270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58768" y="3328416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F0EBD8"/>
                </a:solidFill>
                <a:latin typeface="Segoe UI Semibold"/>
              </a:rPr>
              <a:t>Sentiment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58768" y="3538728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DB0C8"/>
                </a:solidFill>
                <a:latin typeface="Consolas"/>
              </a:rPr>
              <a:t>finance lexicon · −1 … +1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749039" y="3867912"/>
            <a:ext cx="2377440" cy="493776"/>
          </a:xfrm>
          <a:prstGeom prst="roundRect">
            <a:avLst>
              <a:gd name="adj" fmla="val 12000"/>
            </a:avLst>
          </a:prstGeom>
          <a:solidFill>
            <a:srgbClr val="0D1321"/>
          </a:solidFill>
          <a:ln w="1270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58768" y="391363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F0EBD8"/>
                </a:solidFill>
                <a:latin typeface="Segoe UI Semibold"/>
              </a:rPr>
              <a:t>Event classifier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58768" y="412394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DB0C8"/>
                </a:solidFill>
                <a:latin typeface="Consolas"/>
              </a:rPr>
              <a:t>8-class taxonomy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749039" y="4453128"/>
            <a:ext cx="2377440" cy="493776"/>
          </a:xfrm>
          <a:prstGeom prst="roundRect">
            <a:avLst>
              <a:gd name="adj" fmla="val 12000"/>
            </a:avLst>
          </a:prstGeom>
          <a:solidFill>
            <a:srgbClr val="0D1321"/>
          </a:solidFill>
          <a:ln w="1270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58768" y="4498848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F0EBD8"/>
                </a:solidFill>
                <a:latin typeface="Segoe UI Semibold"/>
              </a:rPr>
              <a:t>Impact model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58768" y="4709160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DB0C8"/>
                </a:solidFill>
                <a:latin typeface="Consolas"/>
              </a:rPr>
              <a:t>severity 1 … 10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309360" y="2267712"/>
            <a:ext cx="640080" cy="1234440"/>
          </a:xfrm>
          <a:prstGeom prst="line">
            <a:avLst/>
          </a:prstGeom>
          <a:ln w="22225">
            <a:solidFill>
              <a:srgbClr val="FCA3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949440" y="1828800"/>
            <a:ext cx="2331720" cy="86868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20" y="197510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DB0C8"/>
                </a:solidFill>
                <a:latin typeface="Consolas"/>
              </a:rPr>
              <a:t>FILE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32320" y="2212848"/>
            <a:ext cx="2057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EBD8"/>
                </a:solidFill>
                <a:latin typeface="Segoe UI Semibold"/>
              </a:rPr>
              <a:t>signals.jsonl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309360" y="3502152"/>
            <a:ext cx="640080" cy="0"/>
          </a:xfrm>
          <a:prstGeom prst="line">
            <a:avLst/>
          </a:prstGeom>
          <a:ln w="22225">
            <a:solidFill>
              <a:srgbClr val="FCA3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949440" y="3063240"/>
            <a:ext cx="2331720" cy="86868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0" y="320954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DB0C8"/>
                </a:solidFill>
                <a:latin typeface="Consolas"/>
              </a:rPr>
              <a:t>REST API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0" y="3447288"/>
            <a:ext cx="2057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EBD8"/>
                </a:solidFill>
                <a:latin typeface="Segoe UI Semibold"/>
              </a:rPr>
              <a:t>/signals · /analyze · /stress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309360" y="3502152"/>
            <a:ext cx="640080" cy="1234440"/>
          </a:xfrm>
          <a:prstGeom prst="line">
            <a:avLst/>
          </a:prstGeom>
          <a:ln w="22225">
            <a:solidFill>
              <a:srgbClr val="FCA3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6949440" y="4297680"/>
            <a:ext cx="2331720" cy="86868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2320" y="444398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DB0C8"/>
                </a:solidFill>
                <a:latin typeface="Consolas"/>
              </a:rPr>
              <a:t>LIVE STREAM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2320" y="4681728"/>
            <a:ext cx="2057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EBD8"/>
                </a:solidFill>
                <a:latin typeface="Segoe UI Semibold"/>
              </a:rPr>
              <a:t>pub / sub bus</a:t>
            </a:r>
          </a:p>
        </p:txBody>
      </p:sp>
      <p:cxnSp>
        <p:nvCxnSpPr>
          <p:cNvPr id="65" name="Connector 64"/>
          <p:cNvCxnSpPr/>
          <p:nvPr/>
        </p:nvCxnSpPr>
        <p:spPr>
          <a:xfrm flipV="1">
            <a:off x="9281160" y="2606040"/>
            <a:ext cx="365760" cy="2130552"/>
          </a:xfrm>
          <a:prstGeom prst="line">
            <a:avLst/>
          </a:prstGeom>
          <a:ln w="22225">
            <a:solidFill>
              <a:srgbClr val="FCA3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281160" y="4343400"/>
            <a:ext cx="365760" cy="393192"/>
          </a:xfrm>
          <a:prstGeom prst="line">
            <a:avLst/>
          </a:prstGeom>
          <a:ln w="22225">
            <a:solidFill>
              <a:srgbClr val="FCA3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9646920" y="2011680"/>
            <a:ext cx="1920240" cy="123444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29800" y="21579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DB0C8"/>
                </a:solidFill>
                <a:latin typeface="Consolas"/>
              </a:rPr>
              <a:t>MODULE A · TACTICAL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29800" y="2395728"/>
            <a:ext cx="1645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0EBD8"/>
                </a:solidFill>
                <a:latin typeface="Segoe UI Semibold"/>
              </a:rPr>
              <a:t>Index rebalancer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646920" y="3749039"/>
            <a:ext cx="1920240" cy="123444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829800" y="389534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DB0C8"/>
                </a:solidFill>
                <a:latin typeface="Consolas"/>
              </a:rPr>
              <a:t>MODULE B · STRATEGIC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29800" y="4133087"/>
            <a:ext cx="1645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0EBD8"/>
                </a:solidFill>
                <a:latin typeface="Segoe UI Semibold"/>
              </a:rPr>
              <a:t>Stress tester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" y="5623560"/>
            <a:ext cx="10927080" cy="64008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68680" y="576072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0EBD8"/>
                </a:solidFill>
                <a:latin typeface="Segoe UI Semibold"/>
              </a:rPr>
              <a:t>Dashboard  </a:t>
            </a:r>
            <a:r>
              <a:rPr sz="1300" b="0">
                <a:solidFill>
                  <a:srgbClr val="9DB0C8"/>
                </a:solidFill>
                <a:latin typeface="Segoe UI"/>
              </a:rPr>
              <a:t>Streamlit + Plotly — signal feed · weights over time · portfolio before/after · live headline scoring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CA311"/>
                </a:solidFill>
                <a:latin typeface="Consolas"/>
              </a:rPr>
              <a:t>RP</a:t>
            </a:r>
            <a:r>
              <a:rPr sz="1100" b="0">
                <a:solidFill>
                  <a:srgbClr val="9DB0C8"/>
                </a:solidFill>
                <a:latin typeface="Consolas"/>
              </a:rPr>
              <a:t>  ·  04 / IMPLEMENTATION HIGHLIGHTS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4015" y="3840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9DB0C8"/>
                </a:solidFill>
                <a:latin typeface="Consolas"/>
              </a:rPr>
              <a:t>RISKPULSE — AI/NLP RISK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>
                <a:solidFill>
                  <a:srgbClr val="F0EBD8"/>
                </a:solidFill>
                <a:latin typeface="Segoe UI Black"/>
              </a:rPr>
              <a:t>One headline in. One signal out.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1691640"/>
            <a:ext cx="10927080" cy="713232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17830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C8"/>
                </a:solidFill>
                <a:latin typeface="Consolas"/>
              </a:rPr>
              <a:t>INCOMING · NEWS WIRE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20299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FCA311"/>
                </a:solidFill>
                <a:latin typeface="Consolas"/>
              </a:rPr>
              <a:t>Rating agency</a:t>
            </a:r>
            <a:r>
              <a:rPr sz="1350" b="0">
                <a:solidFill>
                  <a:srgbClr val="F0EBD8"/>
                </a:solidFill>
                <a:latin typeface="Consolas"/>
              </a:rPr>
              <a:t> downgrades </a:t>
            </a:r>
            <a:r>
              <a:rPr sz="1350" b="0">
                <a:solidFill>
                  <a:srgbClr val="FCA311"/>
                </a:solidFill>
                <a:latin typeface="Consolas"/>
              </a:rPr>
              <a:t>Goldman Sachs</a:t>
            </a:r>
            <a:r>
              <a:rPr sz="1350" b="0">
                <a:solidFill>
                  <a:srgbClr val="F0EBD8"/>
                </a:solidFill>
                <a:latin typeface="Consolas"/>
              </a:rPr>
              <a:t> after surprise trading </a:t>
            </a:r>
            <a:r>
              <a:rPr sz="1350" b="0">
                <a:solidFill>
                  <a:srgbClr val="FCA311"/>
                </a:solidFill>
                <a:latin typeface="Consolas"/>
              </a:rPr>
              <a:t>losses</a:t>
            </a:r>
            <a:r>
              <a:rPr sz="1350" b="0">
                <a:solidFill>
                  <a:srgbClr val="F0EBD8"/>
                </a:solidFill>
                <a:latin typeface="Consolas"/>
              </a:rPr>
              <a:t>; </a:t>
            </a:r>
            <a:r>
              <a:rPr sz="1350" b="0">
                <a:solidFill>
                  <a:srgbClr val="FCA311"/>
                </a:solidFill>
                <a:latin typeface="Consolas"/>
              </a:rPr>
              <a:t>contagion fears</a:t>
            </a:r>
            <a:r>
              <a:rPr sz="1350" b="0">
                <a:solidFill>
                  <a:srgbClr val="F0EBD8"/>
                </a:solidFill>
                <a:latin typeface="Consolas"/>
              </a:rPr>
              <a:t> hit bank stocks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260604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27432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C8"/>
                </a:solidFill>
                <a:latin typeface="Consolas"/>
              </a:rPr>
              <a:t>ENTITY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30175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>
                <a:solidFill>
                  <a:srgbClr val="F0EBD8"/>
                </a:solidFill>
                <a:latin typeface="Segoe UI Black"/>
              </a:rPr>
              <a:t>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7" y="361188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9DB0C8"/>
                </a:solidFill>
                <a:latin typeface="Consolas"/>
              </a:rPr>
              <a:t>alias → ticker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01568" y="260604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02736" y="27432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C8"/>
                </a:solidFill>
                <a:latin typeface="Consolas"/>
              </a:rPr>
              <a:t>SENTIMENT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02736" y="30175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>
                <a:solidFill>
                  <a:srgbClr val="E8645A"/>
                </a:solidFill>
                <a:latin typeface="Segoe UI Black"/>
              </a:rPr>
              <a:t>−0.84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2736" y="361188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9DB0C8"/>
                </a:solidFill>
                <a:latin typeface="Consolas"/>
              </a:rPr>
              <a:t>lexicon, negation-aware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3056" y="260604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27432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C8"/>
                </a:solidFill>
                <a:latin typeface="Consolas"/>
              </a:rPr>
              <a:t>EVENT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4224" y="30175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>
                <a:solidFill>
                  <a:srgbClr val="F0EBD8"/>
                </a:solidFill>
                <a:latin typeface="Segoe UI Black"/>
              </a:rPr>
              <a:t>Credit Event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4224" y="361188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9DB0C8"/>
                </a:solidFill>
                <a:latin typeface="Consolas"/>
              </a:rPr>
              <a:t>confidence 100%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24544" y="260604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25712" y="27432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C8"/>
                </a:solidFill>
                <a:latin typeface="Consolas"/>
              </a:rPr>
              <a:t>IMPACT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5712" y="30175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>
                <a:solidFill>
                  <a:srgbClr val="FCA311"/>
                </a:solidFill>
                <a:latin typeface="Segoe UI Black"/>
              </a:rPr>
              <a:t>8.6 / 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5712" y="361188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9DB0C8"/>
                </a:solidFill>
                <a:latin typeface="Consolas"/>
              </a:rPr>
              <a:t>triggers a stress test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4370832"/>
            <a:ext cx="45720" cy="1325880"/>
          </a:xfrm>
          <a:prstGeom prst="rect">
            <a:avLst/>
          </a:prstGeom>
          <a:solidFill>
            <a:srgbClr val="FCA3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" y="4297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0EBD8"/>
                </a:solidFill>
                <a:latin typeface="Segoe UI Semibold"/>
              </a:rPr>
              <a:t>Explainable lexicon, not a black box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" y="4681728"/>
            <a:ext cx="3291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9DB0C8"/>
                </a:solidFill>
                <a:latin typeface="Segoe UI"/>
              </a:rPr>
              <a:t>~250 finance terms + phrases. 'Crushed it' is positive, 'higher for longer' negative. Every score ships with the words behind it — auditable for model risk.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25112" y="4370832"/>
            <a:ext cx="45720" cy="1325880"/>
          </a:xfrm>
          <a:prstGeom prst="rect">
            <a:avLst/>
          </a:prstGeom>
          <a:solidFill>
            <a:srgbClr val="FCA3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53712" y="4297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0EBD8"/>
                </a:solidFill>
                <a:latin typeface="Segoe UI Semibold"/>
              </a:rPr>
              <a:t>Impact is a model, not a guess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53712" y="4681728"/>
            <a:ext cx="3291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9DB0C8"/>
                </a:solidFill>
                <a:latin typeface="Segoe UI"/>
              </a:rPr>
              <a:t>Event base severity + tone (negative ×1.25) + magnitude cues (7%, $16bn, 25bp) + shock words + breadth + source credibility by follower reach.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10144" y="4370832"/>
            <a:ext cx="45720" cy="1325880"/>
          </a:xfrm>
          <a:prstGeom prst="rect">
            <a:avLst/>
          </a:prstGeom>
          <a:solidFill>
            <a:srgbClr val="FCA3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38744" y="4297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0EBD8"/>
                </a:solidFill>
                <a:latin typeface="Segoe UI Semibold"/>
              </a:rPr>
              <a:t>Modules built like desk tools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38744" y="4681728"/>
            <a:ext cx="3291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9DB0C8"/>
                </a:solidFill>
                <a:latin typeface="Segoe UI"/>
              </a:rPr>
              <a:t>A: w ∝ base·e^(k·s) with floors, a 15% cap and 10% turnover limit.  B: duration / spread / delta / FX / PD×LGD revaluation; scenario by event, scaled by impact.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62910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9DB0C8"/>
                </a:solidFill>
                <a:latin typeface="Consolas"/>
              </a:rPr>
              <a:t>Python 3 · pandas · FastAPI · Streamlit · Plotly · pytest (24 tests) — core engine uses only the standard library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CA311"/>
                </a:solidFill>
                <a:latin typeface="Consolas"/>
              </a:rPr>
              <a:t>RP</a:t>
            </a:r>
            <a:r>
              <a:rPr sz="1100" b="0">
                <a:solidFill>
                  <a:srgbClr val="9DB0C8"/>
                </a:solidFill>
                <a:latin typeface="Consolas"/>
              </a:rPr>
              <a:t>  ·  05 / KEY RESULTS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4015" y="3840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9DB0C8"/>
                </a:solidFill>
                <a:latin typeface="Consolas"/>
              </a:rPr>
              <a:t>RISKPULSE — AI/NLP RISK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>
                <a:solidFill>
                  <a:srgbClr val="F0EBD8"/>
                </a:solidFill>
                <a:latin typeface="Segoe UI Black"/>
              </a:rPr>
              <a:t>One sample week, end to end.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1600200"/>
            <a:ext cx="1463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>
                <a:solidFill>
                  <a:srgbClr val="F0EBD8"/>
                </a:solidFill>
                <a:latin typeface="Segoe UI Black"/>
              </a:rPr>
              <a:t>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23317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DB0C8"/>
                </a:solidFill>
                <a:latin typeface="Consolas"/>
              </a:rPr>
              <a:t>DOCUMENTS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21408" y="1600200"/>
            <a:ext cx="1463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>
                <a:solidFill>
                  <a:srgbClr val="F0EBD8"/>
                </a:solidFill>
                <a:latin typeface="Segoe UI Black"/>
              </a:rPr>
              <a:t>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23317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DB0C8"/>
                </a:solidFill>
                <a:latin typeface="Consolas"/>
              </a:rPr>
              <a:t>RISK SIGNALS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02736" y="1600200"/>
            <a:ext cx="1463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>
                <a:solidFill>
                  <a:srgbClr val="F0EBD8"/>
                </a:solidFill>
                <a:latin typeface="Segoe UI Black"/>
              </a:rPr>
              <a:t>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168" y="23317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DB0C8"/>
                </a:solidFill>
                <a:latin typeface="Consolas"/>
              </a:rPr>
              <a:t>REBALANCES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84064" y="1600200"/>
            <a:ext cx="1463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>
                <a:solidFill>
                  <a:srgbClr val="FCA311"/>
                </a:solidFill>
                <a:latin typeface="Segoe UI Black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11496" y="23317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DB0C8"/>
                </a:solidFill>
                <a:latin typeface="Consolas"/>
              </a:rPr>
              <a:t>STRESS TESTS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66560" y="1600200"/>
            <a:ext cx="4800600" cy="105156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E86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171907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DB0C8"/>
                </a:solidFill>
                <a:latin typeface="Consolas"/>
              </a:rPr>
              <a:t>WORST CASE · SOVEREIGN DOWNGRADE · IMPACT 9.4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193852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>
                <a:solidFill>
                  <a:srgbClr val="E8645A"/>
                </a:solidFill>
                <a:latin typeface="Segoe UI Black"/>
              </a:rPr>
              <a:t>−$28.0M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205740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C8"/>
                </a:solidFill>
                <a:latin typeface="Segoe UI"/>
              </a:rPr>
              <a:t>-9.9% of a $283m book, valued the moment it landed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2880360"/>
            <a:ext cx="5394960" cy="324612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chart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017520"/>
            <a:ext cx="3639690" cy="26974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68680" y="57607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9DB0C8"/>
                </a:solidFill>
                <a:latin typeface="Consolas"/>
              </a:rPr>
              <a:t>Module A — AAPL, NVDA cut ~4.6pp; MSFT, GOOGL, JPM up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2880360"/>
            <a:ext cx="5394960" cy="324612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hart_st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3017520"/>
            <a:ext cx="3639690" cy="2697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400800" y="57607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9DB0C8"/>
                </a:solidFill>
                <a:latin typeface="Consolas"/>
              </a:rPr>
              <a:t>Module B — 10 auto-triggered stress tests (amber = worst)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3276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0EBD8"/>
                </a:solidFill>
                <a:latin typeface="Segoe UI"/>
              </a:rPr>
              <a:t>News and social agree on sentiment direction in 29 of 30 stories — the miss (OPEC+ cut) is genuinely mixed news.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CA311"/>
                </a:solidFill>
                <a:latin typeface="Consolas"/>
              </a:rPr>
              <a:t>RP</a:t>
            </a:r>
            <a:r>
              <a:rPr sz="1100" b="0">
                <a:solidFill>
                  <a:srgbClr val="9DB0C8"/>
                </a:solidFill>
                <a:latin typeface="Consolas"/>
              </a:rPr>
              <a:t>  ·  06 / DOMAIN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4015" y="3840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9DB0C8"/>
                </a:solidFill>
                <a:latin typeface="Consolas"/>
              </a:rPr>
              <a:t>RISKPULSE — AI/NLP RISK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>
                <a:solidFill>
                  <a:srgbClr val="F0EBD8"/>
                </a:solidFill>
                <a:latin typeface="Segoe UI Black"/>
              </a:rPr>
              <a:t>Why it matters to a bank or an index provider.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178308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20391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CA311"/>
                </a:solidFill>
                <a:latin typeface="Consolas"/>
              </a:rPr>
              <a:t>EARLY WARNING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35000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>
                <a:solidFill>
                  <a:srgbClr val="F0EBD8"/>
                </a:solidFill>
                <a:latin typeface="Segoe UI Semibold"/>
              </a:rPr>
              <a:t>Seconds, not overnight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2834639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>
                <a:solidFill>
                  <a:srgbClr val="9DB0C8"/>
                </a:solidFill>
                <a:latin typeface="Segoe UI"/>
              </a:rPr>
              <a:t>A credit event in the news revalues the book as it lands — instead of at the next daily risk run.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178308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20391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CA311"/>
                </a:solidFill>
                <a:latin typeface="Consolas"/>
              </a:rPr>
              <a:t>EXPLAINABILITY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235000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>
                <a:solidFill>
                  <a:srgbClr val="F0EBD8"/>
                </a:solidFill>
                <a:latin typeface="Segoe UI Semibold"/>
              </a:rPr>
              <a:t>Every number has a reason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2834639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>
                <a:solidFill>
                  <a:srgbClr val="9DB0C8"/>
                </a:solidFill>
                <a:latin typeface="Segoe UI"/>
              </a:rPr>
              <a:t>Scores trace back to the words that produced them, so model validation and regulators can audit them.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388620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142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CA311"/>
                </a:solidFill>
                <a:latin typeface="Consolas"/>
              </a:rPr>
              <a:t>ONE SIGNAL, MANY USES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44531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>
                <a:solidFill>
                  <a:srgbClr val="F0EBD8"/>
                </a:solidFill>
                <a:latin typeface="Segoe UI Semibold"/>
              </a:rPr>
              <a:t>Build once, consume everywhere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493776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>
                <a:solidFill>
                  <a:srgbClr val="9DB0C8"/>
                </a:solidFill>
                <a:latin typeface="Segoe UI"/>
              </a:rPr>
              <a:t>The same feed drives trading tilts, scenario analysis and — next — limit monitoring and alerts.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88620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4142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CA311"/>
                </a:solidFill>
                <a:latin typeface="Consolas"/>
              </a:rPr>
              <a:t>ANALYST LEVERAGE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44531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>
                <a:solidFill>
                  <a:srgbClr val="F0EBD8"/>
                </a:solidFill>
                <a:latin typeface="Segoe UI Semibold"/>
              </a:rPr>
              <a:t>One ranked feed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93776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>
                <a:solidFill>
                  <a:srgbClr val="9DB0C8"/>
                </a:solidFill>
                <a:latin typeface="Segoe UI"/>
              </a:rPr>
              <a:t>A desk watching 18 names and 60 stories sees what matters first, instead of dozens of tabs.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9525">
            <a:solidFill>
              <a:srgbClr val="172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CA311"/>
                </a:solidFill>
                <a:latin typeface="Consolas"/>
              </a:rPr>
              <a:t>RP</a:t>
            </a:r>
            <a:r>
              <a:rPr sz="1100" b="0">
                <a:solidFill>
                  <a:srgbClr val="9DB0C8"/>
                </a:solidFill>
                <a:latin typeface="Consolas"/>
              </a:rPr>
              <a:t>  ·  07 / LIMITATIONS &amp; NEXT STEPS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4015" y="3840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9DB0C8"/>
                </a:solidFill>
                <a:latin typeface="Consolas"/>
              </a:rPr>
              <a:t>RISKPULSE — AI/NLP RISK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>
                <a:solidFill>
                  <a:srgbClr val="F0EBD8"/>
                </a:solidFill>
                <a:latin typeface="Segoe UI Black"/>
              </a:rPr>
              <a:t>Honest limits, clear next steps.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1691640"/>
            <a:ext cx="5394960" cy="393192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1920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E8645A"/>
                </a:solidFill>
                <a:latin typeface="Consolas"/>
              </a:rPr>
              <a:t>ASSUMPTIONS &amp; GAPS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2688" y="2487168"/>
            <a:ext cx="91440" cy="91440"/>
          </a:xfrm>
          <a:prstGeom prst="rect">
            <a:avLst/>
          </a:prstGeom>
          <a:solidFill>
            <a:srgbClr val="E8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19" y="237744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0EBD8"/>
                </a:solidFill>
                <a:latin typeface="Segoe UI"/>
              </a:rPr>
              <a:t>Lexicon tuned on a small synthetic sample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" y="3264408"/>
            <a:ext cx="91440" cy="91440"/>
          </a:xfrm>
          <a:prstGeom prst="rect">
            <a:avLst/>
          </a:prstGeom>
          <a:solidFill>
            <a:srgbClr val="E8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19" y="315468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0EBD8"/>
                </a:solidFill>
                <a:latin typeface="Segoe UI"/>
              </a:rPr>
              <a:t>First-order (linear) revaluation — no convexity or optionality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2688" y="4041648"/>
            <a:ext cx="91440" cy="91440"/>
          </a:xfrm>
          <a:prstGeom prst="rect">
            <a:avLst/>
          </a:prstGeom>
          <a:solidFill>
            <a:srgbClr val="E8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19" y="393192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0EBD8"/>
                </a:solidFill>
                <a:latin typeface="Segoe UI"/>
              </a:rPr>
              <a:t>Scenario shocks hand-calibrated, not fitted to history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2688" y="4818888"/>
            <a:ext cx="91440" cy="91440"/>
          </a:xfrm>
          <a:prstGeom prst="rect">
            <a:avLst/>
          </a:prstGeom>
          <a:solidFill>
            <a:srgbClr val="E8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88719" y="470916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0EBD8"/>
                </a:solidFill>
                <a:latin typeface="Segoe UI"/>
              </a:rPr>
              <a:t>Entity linking limited to an alias table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691640"/>
            <a:ext cx="5394960" cy="393192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9050">
            <a:solidFill>
              <a:srgbClr val="2C4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1920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FC08D"/>
                </a:solidFill>
                <a:latin typeface="Consolas"/>
              </a:rPr>
              <a:t>NEXT STEPS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64808" y="2487168"/>
            <a:ext cx="91440" cy="91440"/>
          </a:xfrm>
          <a:prstGeom prst="rect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20840" y="237744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0EBD8"/>
                </a:solidFill>
                <a:latin typeface="Segoe UI"/>
              </a:rPr>
              <a:t>Fine-tune FinBERT on labelled headlines; ensemble with the lexicon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64808" y="3264408"/>
            <a:ext cx="91440" cy="91440"/>
          </a:xfrm>
          <a:prstGeom prst="rect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20840" y="315468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0EBD8"/>
                </a:solidFill>
                <a:latin typeface="Segoe UI"/>
              </a:rPr>
              <a:t>Calibrate impact against realised abnormal returns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64808" y="4041648"/>
            <a:ext cx="91440" cy="91440"/>
          </a:xfrm>
          <a:prstGeom prst="rect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20840" y="393192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0EBD8"/>
                </a:solidFill>
                <a:latin typeface="Segoe UI"/>
              </a:rPr>
              <a:t>Historical scenario library — 2008, 2020, 2022 rates shock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64808" y="4818888"/>
            <a:ext cx="91440" cy="91440"/>
          </a:xfrm>
          <a:prstGeom prst="rect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20840" y="470916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0EBD8"/>
                </a:solidFill>
                <a:latin typeface="Segoe UI"/>
              </a:rPr>
              <a:t>Streaming ingestion (Kafka) with alerting; backtest Module A vs equal weight</a:t>
            </a:r>
          </a:p>
        </p:txBody>
      </p:sp>
      <p:sp>
        <p:nvSpPr>
          <p:cNvPr id="46" name="Freeform 45"/>
          <p:cNvSpPr/>
          <p:nvPr/>
        </p:nvSpPr>
        <p:spPr>
          <a:xfrm>
            <a:off x="0" y="5725972"/>
            <a:ext cx="12191695" cy="453543"/>
          </a:xfrm>
          <a:custGeom>
            <a:avLst/>
            <a:gdLst/>
            <a:ahLst/>
            <a:cxnLst/>
            <a:rect l="l" t="t" r="r" b="b"/>
            <a:pathLst>
              <a:path w="12191695" h="453543">
                <a:moveTo>
                  <a:pt x="0" y="226772"/>
                </a:moveTo>
                <a:lnTo>
                  <a:pt x="4825879" y="226772"/>
                </a:lnTo>
                <a:lnTo>
                  <a:pt x="5219569" y="194376"/>
                </a:lnTo>
                <a:lnTo>
                  <a:pt x="5537061" y="226772"/>
                </a:lnTo>
                <a:lnTo>
                  <a:pt x="5905352" y="226772"/>
                </a:lnTo>
                <a:lnTo>
                  <a:pt x="6108547" y="0"/>
                </a:lnTo>
                <a:lnTo>
                  <a:pt x="6311742" y="453543"/>
                </a:lnTo>
                <a:lnTo>
                  <a:pt x="6489537" y="105287"/>
                </a:lnTo>
                <a:lnTo>
                  <a:pt x="6641933" y="226772"/>
                </a:lnTo>
                <a:lnTo>
                  <a:pt x="12191695" y="226772"/>
                </a:lnTo>
              </a:path>
            </a:pathLst>
          </a:custGeom>
          <a:noFill/>
          <a:ln w="31750">
            <a:solidFill>
              <a:srgbClr val="FCA3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DB0C8"/>
                </a:solidFill>
                <a:latin typeface="Consolas"/>
              </a:rPr>
              <a:t>Madapati Naga Durga Abhinav Sai  ·  VIT-AP University  · 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